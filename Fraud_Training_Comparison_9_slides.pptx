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0" y="0"/>
            <a:ext cx="4190695" cy="6858000"/>
          </a:xfrm>
          <a:prstGeom prst="rect">
            <a:avLst/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39912" y="1188720"/>
            <a:ext cx="3246120" cy="41148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3D7E8"/>
                </a:solidFill>
                <a:latin typeface="Aptos"/>
              </a:rPr>
              <a:t>MODEL TRENING TAQQOSLASHI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6812280" cy="1417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4F7FB"/>
                </a:solidFill>
                <a:latin typeface="Aptos"/>
              </a:rPr>
              <a:t>KETMA-KETDAN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4F7FB"/>
                </a:solidFill>
                <a:latin typeface="Aptos"/>
              </a:rPr>
              <a:t>PARALLEL REDUCE'GACHA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017520"/>
            <a:ext cx="6355080" cy="7680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A9B6C9"/>
                </a:solidFill>
                <a:latin typeface="Aptos"/>
              </a:rPr>
              <a:t>Fraud aniqlash modelida tezlik, aniqlik va xatolar muvozanati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4251960"/>
            <a:ext cx="635508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4F7FB"/>
                </a:solidFill>
                <a:latin typeface="Aptos"/>
              </a:rPr>
              <a:t>PaySim  •  Random Forest, 100 daraxt  •  16 CPU worker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1581912"/>
            <a:ext cx="31546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3D7E8"/>
                </a:solidFill>
                <a:latin typeface="Aptos"/>
              </a:rPr>
              <a:t>ASOSIY NATIJA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6488" y="2240280"/>
            <a:ext cx="30632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300" b="1">
                <a:solidFill>
                  <a:srgbClr val="F4F7FB"/>
                </a:solidFill>
                <a:latin typeface="Aptos"/>
              </a:rPr>
              <a:t>15.6×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081528"/>
            <a:ext cx="283464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A9B6C9"/>
                </a:solidFill>
                <a:latin typeface="Aptos"/>
              </a:rPr>
              <a:t>tezroq o‘qitish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A9B6C9"/>
                </a:solidFill>
                <a:latin typeface="Aptos"/>
              </a:rPr>
              <a:t>Parallel → Parallel Reduce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85632" y="4133087"/>
            <a:ext cx="2880360" cy="18288"/>
          </a:xfrm>
          <a:prstGeom prst="rect">
            <a:avLst/>
          </a:prstGeom>
          <a:solidFill>
            <a:srgbClr val="293750"/>
          </a:solidFill>
          <a:ln>
            <a:solidFill>
              <a:srgbClr val="29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4407408"/>
            <a:ext cx="2926080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B454"/>
                </a:solidFill>
                <a:latin typeface="Aptos"/>
              </a:rPr>
              <a:t>Ketma-ket natija logda yo‘q — taxminiy raqam kiritilmadi.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6309360"/>
            <a:ext cx="53035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TAHLILIY PREZENTATSIYA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89611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43D7E8"/>
                </a:solidFill>
                <a:latin typeface="Aptos"/>
              </a:rPr>
              <a:t>MA’LUMOT VA SINOV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4F7FB"/>
                </a:solidFill>
                <a:latin typeface="Aptos"/>
              </a:rPr>
              <a:t>Tajriba ma’lumotlari: PaySim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9B6C9"/>
                </a:solidFill>
                <a:latin typeface="Aptos"/>
              </a:rPr>
              <a:t>Bir xil holdout test to‘plami natijalarni solishtirishga imkon beradi.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19088"/>
            <a:ext cx="11109960" cy="10972"/>
          </a:xfrm>
          <a:prstGeom prst="rect">
            <a:avLst/>
          </a:prstGeom>
          <a:solidFill>
            <a:srgbClr val="293750"/>
          </a:solidFill>
          <a:ln>
            <a:solidFill>
              <a:srgbClr val="29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73952"/>
            <a:ext cx="99669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9B6C9"/>
                </a:solidFill>
                <a:latin typeface="Aptos"/>
              </a:rPr>
              <a:t>PAYSIM FRAUD DETECTION  •  RANDOM FOREST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64808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02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44752"/>
            <a:ext cx="5989320" cy="3493008"/>
          </a:xfrm>
          <a:prstGeom prst="roundRect">
            <a:avLst>
              <a:gd name="adj" fmla="val 12000"/>
            </a:avLst>
          </a:prstGeom>
          <a:solidFill>
            <a:srgbClr val="05080F"/>
          </a:solidFill>
          <a:ln>
            <a:solidFill>
              <a:srgbClr val="29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sted Imag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499" y="1517904"/>
            <a:ext cx="5118176" cy="33375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76288" y="1481328"/>
            <a:ext cx="2212848" cy="1133856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76288" y="1481328"/>
            <a:ext cx="50292" cy="1133856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79" y="1591056"/>
            <a:ext cx="190195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JAMI TRANZAKSIYA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79" y="1874520"/>
            <a:ext cx="190195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4F7FB"/>
                </a:solidFill>
                <a:latin typeface="Aptos"/>
              </a:rPr>
              <a:t>6.36 mln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2276856"/>
            <a:ext cx="190195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9B6C9"/>
                </a:solidFill>
                <a:latin typeface="Aptos"/>
              </a:rPr>
              <a:t>CSV: 6,362,620 qator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53728" y="1481328"/>
            <a:ext cx="2212848" cy="1133856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53728" y="1481328"/>
            <a:ext cx="50292" cy="1133856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19" y="1591056"/>
            <a:ext cx="190195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FRAUD HOLATI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1874520"/>
            <a:ext cx="190195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4F7FB"/>
                </a:solidFill>
                <a:latin typeface="Aptos"/>
              </a:rPr>
              <a:t>8,213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2276856"/>
            <a:ext cx="190195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9B6C9"/>
                </a:solidFill>
                <a:latin typeface="Aptos"/>
              </a:rPr>
              <a:t>Ulushi: 0.129%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6288" y="2761488"/>
            <a:ext cx="2212848" cy="1133856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76288" y="2761488"/>
            <a:ext cx="50292" cy="1133856"/>
          </a:xfrm>
          <a:prstGeom prst="rect">
            <a:avLst/>
          </a:prstGeom>
          <a:solidFill>
            <a:srgbClr val="65D6A4"/>
          </a:solidFill>
          <a:ln>
            <a:solidFill>
              <a:srgbClr val="65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79" y="2871216"/>
            <a:ext cx="190195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MODEL FEATURE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79" y="3154680"/>
            <a:ext cx="190195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4F7FB"/>
                </a:solidFill>
                <a:latin typeface="Aptos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79" y="3557015"/>
            <a:ext cx="190195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9B6C9"/>
                </a:solidFill>
                <a:latin typeface="Aptos"/>
              </a:rPr>
              <a:t>7 raqamli + 1 kategorik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53728" y="2761488"/>
            <a:ext cx="2212848" cy="1133856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53728" y="2761488"/>
            <a:ext cx="50292" cy="1133856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19" y="2871216"/>
            <a:ext cx="190195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TRAIN /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19" y="3154680"/>
            <a:ext cx="190195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4F7FB"/>
                </a:solidFill>
                <a:latin typeface="Aptos"/>
              </a:rPr>
              <a:t>80 / 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19" y="3557015"/>
            <a:ext cx="190195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9B6C9"/>
                </a:solidFill>
                <a:latin typeface="Aptos"/>
              </a:rPr>
              <a:t>Stratified ajratish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76288" y="4096512"/>
            <a:ext cx="4590288" cy="822960"/>
          </a:xfrm>
          <a:prstGeom prst="roundRect">
            <a:avLst>
              <a:gd name="adj" fmla="val 12000"/>
            </a:avLst>
          </a:prstGeom>
          <a:solidFill>
            <a:srgbClr val="1B2940"/>
          </a:solidFill>
          <a:ln>
            <a:solidFill>
              <a:srgbClr val="1B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86600" y="4206240"/>
            <a:ext cx="4160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4F7FB"/>
                </a:solidFill>
                <a:latin typeface="Aptos"/>
              </a:rPr>
              <a:t>Test: 1,272,524 qator  •  fraud: 1,643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4F7FB"/>
                </a:solidFill>
                <a:latin typeface="Aptos"/>
              </a:rPr>
              <a:t>ID ustunlari chiqarilgan: nameOrig, nameDest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85232"/>
            <a:ext cx="1078992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B454"/>
                </a:solidFill>
                <a:latin typeface="Aptos"/>
              </a:rPr>
              <a:t>Muhim: sinflar juda nomutanosib. Shu bois accuracy’ni yolg‘iz baholash yetarli emas; fraud sinfiga precision, recall va F1 ham qaraladi.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89611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43D7E8"/>
                </a:solidFill>
                <a:latin typeface="Aptos"/>
              </a:rPr>
              <a:t>USULLAR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4F7FB"/>
                </a:solidFill>
                <a:latin typeface="Aptos"/>
              </a:rPr>
              <a:t>Uch xil o‘qitish yondashuvi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9B6C9"/>
                </a:solidFill>
                <a:latin typeface="Aptos"/>
              </a:rPr>
              <a:t>Model sifati uchun asosiy mezon — bir xil feature, split va test to‘plamida taqqoslash.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19088"/>
            <a:ext cx="11109960" cy="10972"/>
          </a:xfrm>
          <a:prstGeom prst="rect">
            <a:avLst/>
          </a:prstGeom>
          <a:solidFill>
            <a:srgbClr val="293750"/>
          </a:solidFill>
          <a:ln>
            <a:solidFill>
              <a:srgbClr val="29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73952"/>
            <a:ext cx="99669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9B6C9"/>
                </a:solidFill>
                <a:latin typeface="Aptos"/>
              </a:rPr>
              <a:t>PAYSIM FRAUD DETECTION  •  RANDOM FOREST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64808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03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572768"/>
            <a:ext cx="3291840" cy="3840480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1572768"/>
            <a:ext cx="3291840" cy="64008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56231"/>
            <a:ext cx="28803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B454"/>
                </a:solidFill>
                <a:latin typeface="Aptos"/>
              </a:rPr>
              <a:t>01  KETMA-KET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40864"/>
            <a:ext cx="28803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7FB"/>
                </a:solidFill>
                <a:latin typeface="Aptos"/>
              </a:rPr>
              <a:t>1 worker • n_jobs=1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944368"/>
            <a:ext cx="2852928" cy="20299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6C9"/>
                </a:solidFill>
                <a:latin typeface="Aptos"/>
              </a:rPr>
              <a:t>Daraxtlar bitta CPU oqimida quriladi. Loyiha tarixidagi kodda bu rejim bor, ammo yuborilgan natijada uning vaqti ham, metrikalari ham yozilmagan.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7" y="1572768"/>
            <a:ext cx="3291840" cy="3840480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33087" y="1572768"/>
            <a:ext cx="3291840" cy="64008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5" y="1856231"/>
            <a:ext cx="28803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3D7E8"/>
                </a:solidFill>
                <a:latin typeface="Aptos"/>
              </a:rPr>
              <a:t>02  PARALLEL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5" y="2340864"/>
            <a:ext cx="28803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7FB"/>
                </a:solidFill>
                <a:latin typeface="Aptos"/>
              </a:rPr>
              <a:t>16 worker • 100 daraxt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5" y="2944368"/>
            <a:ext cx="2852928" cy="20299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6C9"/>
                </a:solidFill>
                <a:latin typeface="Aptos"/>
              </a:rPr>
              <a:t>Oddiy Random Forest: daraxtlarni CPU workerlar bir vaqtda quradi. Skrinshotda ketma-ket rejim o‘chirib qo‘yilgan, parallel natija o‘lchangan.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2672" y="1572768"/>
            <a:ext cx="3291840" cy="3840480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62672" y="1572768"/>
            <a:ext cx="3291840" cy="64008"/>
          </a:xfrm>
          <a:prstGeom prst="rect">
            <a:avLst/>
          </a:prstGeom>
          <a:solidFill>
            <a:srgbClr val="65D6A4"/>
          </a:solidFill>
          <a:ln>
            <a:solidFill>
              <a:srgbClr val="65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1856231"/>
            <a:ext cx="28803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5D6A4"/>
                </a:solidFill>
                <a:latin typeface="Aptos"/>
              </a:rPr>
              <a:t>03  PARALLEL REDUCE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340864"/>
            <a:ext cx="28803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7FB"/>
                </a:solidFill>
                <a:latin typeface="Aptos"/>
              </a:rPr>
              <a:t>16 worker • 100 daraxt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944368"/>
            <a:ext cx="2852928" cy="20299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6C9"/>
                </a:solidFill>
                <a:latin typeface="Aptos"/>
              </a:rPr>
              <a:t>Train qismi stratified bo‘laklarga ajratiladi; 16 model 6–7 daraxtdan o‘qitilib, fraud ehtimollari average’lanadi.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687568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B454"/>
                </a:solidFill>
                <a:latin typeface="Aptos"/>
              </a:rPr>
              <a:t>Izoh: Reduce — faqat tezroq bajarish emas; har bir kichik model train ma’lumotining bir bo‘lagini ko‘radi, shuning uchun modelning o‘rganish usuli ham o‘zgaradi.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89611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43D7E8"/>
                </a:solidFill>
                <a:latin typeface="Aptos"/>
              </a:rPr>
              <a:t>VAQT TAHLILI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4F7FB"/>
                </a:solidFill>
                <a:latin typeface="Aptos"/>
              </a:rPr>
              <a:t>O‘qitish tezligi: Reduce 15.6× tezroq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9B6C9"/>
                </a:solidFill>
                <a:latin typeface="Aptos"/>
              </a:rPr>
              <a:t>Skrinshotlardagi fit bosqichi vaqtlarini solishtirish — eng to‘g‘ri speed benchmark.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19088"/>
            <a:ext cx="11109960" cy="10972"/>
          </a:xfrm>
          <a:prstGeom prst="rect">
            <a:avLst/>
          </a:prstGeom>
          <a:solidFill>
            <a:srgbClr val="293750"/>
          </a:solidFill>
          <a:ln>
            <a:solidFill>
              <a:srgbClr val="29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73952"/>
            <a:ext cx="99669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9B6C9"/>
                </a:solidFill>
                <a:latin typeface="Aptos"/>
              </a:rPr>
              <a:t>PAYSIM FRAUD DETECTION  •  RANDOM FOREST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64808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04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481328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A9B6C9"/>
                </a:solidFill>
                <a:latin typeface="Aptos"/>
              </a:rPr>
              <a:t>O‘QITISH VAQTI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847088"/>
            <a:ext cx="2450592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4F7FB"/>
                </a:solidFill>
                <a:latin typeface="Aptos"/>
              </a:rPr>
              <a:t>Parallel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1488" y="1901952"/>
            <a:ext cx="6803136" cy="310896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828800"/>
            <a:ext cx="16916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4F7FB"/>
                </a:solidFill>
                <a:latin typeface="Aptos"/>
              </a:rPr>
              <a:t>189.95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670048"/>
            <a:ext cx="2450592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4F7FB"/>
                </a:solidFill>
                <a:latin typeface="Aptos"/>
              </a:rPr>
              <a:t>Parallel Reduce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734056"/>
            <a:ext cx="438912" cy="310896"/>
          </a:xfrm>
          <a:prstGeom prst="rect">
            <a:avLst/>
          </a:prstGeom>
          <a:solidFill>
            <a:srgbClr val="65D6A4"/>
          </a:solidFill>
          <a:ln>
            <a:solidFill>
              <a:srgbClr val="65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651760"/>
            <a:ext cx="15544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4F7FB"/>
                </a:solidFill>
                <a:latin typeface="Aptos"/>
              </a:rPr>
              <a:t>12.18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" y="3401568"/>
            <a:ext cx="10744200" cy="18288"/>
          </a:xfrm>
          <a:prstGeom prst="rect">
            <a:avLst/>
          </a:prstGeom>
          <a:solidFill>
            <a:srgbClr val="293750"/>
          </a:solidFill>
          <a:ln>
            <a:solidFill>
              <a:srgbClr val="29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730752"/>
            <a:ext cx="3310128" cy="1207008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30752"/>
            <a:ext cx="50292" cy="1207008"/>
          </a:xfrm>
          <a:prstGeom prst="rect">
            <a:avLst/>
          </a:prstGeom>
          <a:solidFill>
            <a:srgbClr val="65D6A4"/>
          </a:solidFill>
          <a:ln>
            <a:solidFill>
              <a:srgbClr val="65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840480"/>
            <a:ext cx="299923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FIT BOSQICHI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123944"/>
            <a:ext cx="299923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4F7FB"/>
                </a:solidFill>
                <a:latin typeface="Aptos"/>
              </a:rPr>
              <a:t>15.6×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599432"/>
            <a:ext cx="299923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9B6C9"/>
                </a:solidFill>
                <a:latin typeface="Aptos"/>
              </a:rPr>
              <a:t>189.95 / 12.18 sekund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42816" y="3730752"/>
            <a:ext cx="3310128" cy="1207008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42816" y="3730752"/>
            <a:ext cx="50292" cy="1207008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7" y="3840480"/>
            <a:ext cx="299923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UMUMIY 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7" y="4123944"/>
            <a:ext cx="299923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4F7FB"/>
                </a:solidFill>
                <a:latin typeface="Aptos"/>
              </a:rPr>
              <a:t>5.16×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7" y="4599432"/>
            <a:ext cx="299923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9B6C9"/>
                </a:solidFill>
                <a:latin typeface="Aptos"/>
              </a:rPr>
              <a:t>197.87 / 38.32 sekund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54112" y="3730752"/>
            <a:ext cx="3310128" cy="1207008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54112" y="3730752"/>
            <a:ext cx="50292" cy="1207008"/>
          </a:xfrm>
          <a:prstGeom prst="rect">
            <a:avLst/>
          </a:prstGeom>
          <a:solidFill>
            <a:srgbClr val="65D6A4"/>
          </a:solidFill>
          <a:ln>
            <a:solidFill>
              <a:srgbClr val="65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840480"/>
            <a:ext cx="299923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REDUCE FIT VAQTI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18704" y="4123944"/>
            <a:ext cx="299923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4F7FB"/>
                </a:solidFill>
                <a:latin typeface="Aptos"/>
              </a:rPr>
              <a:t>−93.6%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8704" y="4599432"/>
            <a:ext cx="299923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9B6C9"/>
                </a:solidFill>
                <a:latin typeface="Aptos"/>
              </a:rPr>
              <a:t>parallel fit vaqtiga nisbatan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276088"/>
            <a:ext cx="106984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FB454"/>
                </a:solidFill>
                <a:latin typeface="Aptos"/>
              </a:rPr>
              <a:t>Umumiy run vaqtiga CSV yuklash, test va saqlash ham kiradi; bu vaqt fit vaqtidek aniq bir xil chegaralarda o‘lchanmagan bo‘lishi mumkin. Ketma-ket vaqt mavjud emas.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89611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43D7E8"/>
                </a:solidFill>
                <a:latin typeface="Aptos"/>
              </a:rPr>
              <a:t>NATIJA  •  PARALLEL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4F7FB"/>
                </a:solidFill>
                <a:latin typeface="Aptos"/>
              </a:rPr>
              <a:t>Oddiy parallel o‘qitish natijasi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9B6C9"/>
                </a:solidFill>
                <a:latin typeface="Aptos"/>
              </a:rPr>
              <a:t>16 CPU worker • Random Forest: 100 daraxt • test to‘plami: 1,272,524 tranzaksiya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19088"/>
            <a:ext cx="11109960" cy="10972"/>
          </a:xfrm>
          <a:prstGeom prst="rect">
            <a:avLst/>
          </a:prstGeom>
          <a:solidFill>
            <a:srgbClr val="293750"/>
          </a:solidFill>
          <a:ln>
            <a:solidFill>
              <a:srgbClr val="29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73952"/>
            <a:ext cx="99669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9B6C9"/>
                </a:solidFill>
                <a:latin typeface="Aptos"/>
              </a:rPr>
              <a:t>PAYSIM FRAUD DETECTION  •  RANDOM FOREST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64808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05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481328"/>
            <a:ext cx="5715000" cy="3383280"/>
          </a:xfrm>
          <a:prstGeom prst="roundRect">
            <a:avLst>
              <a:gd name="adj" fmla="val 12000"/>
            </a:avLst>
          </a:prstGeom>
          <a:solidFill>
            <a:srgbClr val="05080F"/>
          </a:solidFill>
          <a:ln>
            <a:solidFill>
              <a:srgbClr val="29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sted 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07" y="1545336"/>
            <a:ext cx="5444393" cy="325526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656832" y="1481328"/>
            <a:ext cx="2176272" cy="1024128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56832" y="1481328"/>
            <a:ext cx="50292" cy="1024128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21424" y="1591056"/>
            <a:ext cx="186537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1424" y="1874520"/>
            <a:ext cx="1865376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4F7FB"/>
                </a:solidFill>
                <a:latin typeface="Aptos"/>
              </a:rPr>
              <a:t>99.63%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481328"/>
            <a:ext cx="2176272" cy="1024128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0" y="1481328"/>
            <a:ext cx="50292" cy="1024128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1591056"/>
            <a:ext cx="186537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1874520"/>
            <a:ext cx="1865376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4F7FB"/>
                </a:solidFill>
                <a:latin typeface="Aptos"/>
              </a:rPr>
              <a:t>25.16%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56832" y="2670048"/>
            <a:ext cx="2176272" cy="1024128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56832" y="2670048"/>
            <a:ext cx="50292" cy="1024128"/>
          </a:xfrm>
          <a:prstGeom prst="rect">
            <a:avLst/>
          </a:prstGeom>
          <a:solidFill>
            <a:srgbClr val="65D6A4"/>
          </a:solidFill>
          <a:ln>
            <a:solidFill>
              <a:srgbClr val="65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21424" y="2779776"/>
            <a:ext cx="186537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3063240"/>
            <a:ext cx="1865376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4F7FB"/>
                </a:solidFill>
                <a:latin typeface="Aptos"/>
              </a:rPr>
              <a:t>96.29%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2670048"/>
            <a:ext cx="2176272" cy="1024128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2670048"/>
            <a:ext cx="50292" cy="1024128"/>
          </a:xfrm>
          <a:prstGeom prst="rect">
            <a:avLst/>
          </a:prstGeom>
          <a:solidFill>
            <a:srgbClr val="FF7185"/>
          </a:solidFill>
          <a:ln>
            <a:solidFill>
              <a:srgbClr val="FF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17152" y="2779776"/>
            <a:ext cx="186537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F1-SCORE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3063240"/>
            <a:ext cx="1865376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4F7FB"/>
                </a:solidFill>
                <a:latin typeface="Aptos"/>
              </a:rPr>
              <a:t>39.90%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56832" y="3858768"/>
            <a:ext cx="2176272" cy="1024128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56832" y="3858768"/>
            <a:ext cx="50292" cy="1024128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21424" y="3968496"/>
            <a:ext cx="186537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ROC-AUC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4251959"/>
            <a:ext cx="1865376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4F7FB"/>
                </a:solidFill>
                <a:latin typeface="Aptos"/>
              </a:rPr>
              <a:t>99.93%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3858768"/>
            <a:ext cx="2176272" cy="1024128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17152" y="3977639"/>
            <a:ext cx="184708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A9B6C9"/>
                </a:solidFill>
                <a:latin typeface="Aptos"/>
              </a:rPr>
              <a:t>CONFUSION MATRIX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17152" y="4242816"/>
            <a:ext cx="1847088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4F7FB"/>
                </a:solidFill>
                <a:latin typeface="Aptos"/>
              </a:rPr>
              <a:t>FP 4,705   FN 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230368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4F7FB"/>
                </a:solidFill>
                <a:latin typeface="Aptos"/>
              </a:rPr>
              <a:t>Talqin: fraudlarning 96.29% topilgan, lekin fraud deb belgilangan tranzaksiyalarning atigi 25.16% i haqiqiy — false positive ko‘p.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89611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43D7E8"/>
                </a:solidFill>
                <a:latin typeface="Aptos"/>
              </a:rPr>
              <a:t>NATIJA  •  PARALLEL REDUCE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4F7FB"/>
                </a:solidFill>
                <a:latin typeface="Aptos"/>
              </a:rPr>
              <a:t>Parallel Reduce natijasi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9B6C9"/>
                </a:solidFill>
                <a:latin typeface="Aptos"/>
              </a:rPr>
              <a:t>16 parallel bo‘lak • jami 100 daraxt • bir xil test hajmi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19088"/>
            <a:ext cx="11109960" cy="10972"/>
          </a:xfrm>
          <a:prstGeom prst="rect">
            <a:avLst/>
          </a:prstGeom>
          <a:solidFill>
            <a:srgbClr val="293750"/>
          </a:solidFill>
          <a:ln>
            <a:solidFill>
              <a:srgbClr val="29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73952"/>
            <a:ext cx="99669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9B6C9"/>
                </a:solidFill>
                <a:latin typeface="Aptos"/>
              </a:rPr>
              <a:t>PAYSIM FRAUD DETECTION  •  RANDOM FOREST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64808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06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481328"/>
            <a:ext cx="5715000" cy="3383280"/>
          </a:xfrm>
          <a:prstGeom prst="roundRect">
            <a:avLst>
              <a:gd name="adj" fmla="val 12000"/>
            </a:avLst>
          </a:prstGeom>
          <a:solidFill>
            <a:srgbClr val="05080F"/>
          </a:solidFill>
          <a:ln>
            <a:solidFill>
              <a:srgbClr val="29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sted Imag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53293"/>
            <a:ext cx="5605272" cy="323934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656832" y="1481328"/>
            <a:ext cx="2176272" cy="1024128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56832" y="1481328"/>
            <a:ext cx="50292" cy="1024128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21424" y="1591056"/>
            <a:ext cx="186537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1424" y="1874520"/>
            <a:ext cx="1865376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4F7FB"/>
                </a:solidFill>
                <a:latin typeface="Aptos"/>
              </a:rPr>
              <a:t>99.96%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481328"/>
            <a:ext cx="2176272" cy="1024128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0" y="1481328"/>
            <a:ext cx="50292" cy="1024128"/>
          </a:xfrm>
          <a:prstGeom prst="rect">
            <a:avLst/>
          </a:prstGeom>
          <a:solidFill>
            <a:srgbClr val="65D6A4"/>
          </a:solidFill>
          <a:ln>
            <a:solidFill>
              <a:srgbClr val="65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1591056"/>
            <a:ext cx="186537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1874520"/>
            <a:ext cx="1865376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4F7FB"/>
                </a:solidFill>
                <a:latin typeface="Aptos"/>
              </a:rPr>
              <a:t>96.28%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56832" y="2670048"/>
            <a:ext cx="2176272" cy="1024128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56832" y="2670048"/>
            <a:ext cx="50292" cy="1024128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21424" y="2779776"/>
            <a:ext cx="186537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3063240"/>
            <a:ext cx="1865376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4F7FB"/>
                </a:solidFill>
                <a:latin typeface="Aptos"/>
              </a:rPr>
              <a:t>75.72%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2670048"/>
            <a:ext cx="2176272" cy="1024128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2670048"/>
            <a:ext cx="50292" cy="1024128"/>
          </a:xfrm>
          <a:prstGeom prst="rect">
            <a:avLst/>
          </a:prstGeom>
          <a:solidFill>
            <a:srgbClr val="65D6A4"/>
          </a:solidFill>
          <a:ln>
            <a:solidFill>
              <a:srgbClr val="65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17152" y="2779776"/>
            <a:ext cx="186537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F1-SCORE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3063240"/>
            <a:ext cx="1865376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4F7FB"/>
                </a:solidFill>
                <a:latin typeface="Aptos"/>
              </a:rPr>
              <a:t>84.77%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56832" y="3858768"/>
            <a:ext cx="2176272" cy="1024128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56832" y="3858768"/>
            <a:ext cx="50292" cy="1024128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21424" y="3968496"/>
            <a:ext cx="1865376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ROC-AUC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4251959"/>
            <a:ext cx="1865376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4F7FB"/>
                </a:solidFill>
                <a:latin typeface="Aptos"/>
              </a:rPr>
              <a:t>99.75%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3858768"/>
            <a:ext cx="2176272" cy="1024128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17152" y="3977639"/>
            <a:ext cx="184708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A9B6C9"/>
                </a:solidFill>
                <a:latin typeface="Aptos"/>
              </a:rPr>
              <a:t>CONFUSION MATRIX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17152" y="4242816"/>
            <a:ext cx="1847088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4F7FB"/>
                </a:solidFill>
                <a:latin typeface="Aptos"/>
              </a:rPr>
              <a:t>FP 48   FN 399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230368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4F7FB"/>
                </a:solidFill>
                <a:latin typeface="Aptos"/>
              </a:rPr>
              <a:t>Talqin: false positive keskin kamaygan va F1 yaxshilangan; evaziga fraudlarni o‘tkazib yuborish 61 tadan 399 taga ko‘paygan.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89611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43D7E8"/>
                </a:solidFill>
                <a:latin typeface="Aptos"/>
              </a:rPr>
              <a:t>TO‘G‘RIDAN-TO‘G‘RI TAQQOSLASH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4F7FB"/>
                </a:solidFill>
                <a:latin typeface="Aptos"/>
              </a:rPr>
              <a:t>Metrikalar: qaysi ko‘rsatkich o‘zgardi?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9B6C9"/>
                </a:solidFill>
                <a:latin typeface="Aptos"/>
              </a:rPr>
              <a:t>Ikkala confusion matrix ham aynan 1,270,881 normal va 1,643 fraud test holatiga tegishli.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19088"/>
            <a:ext cx="11109960" cy="10972"/>
          </a:xfrm>
          <a:prstGeom prst="rect">
            <a:avLst/>
          </a:prstGeom>
          <a:solidFill>
            <a:srgbClr val="293750"/>
          </a:solidFill>
          <a:ln>
            <a:solidFill>
              <a:srgbClr val="29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73952"/>
            <a:ext cx="99669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9B6C9"/>
                </a:solidFill>
                <a:latin typeface="Aptos"/>
              </a:rPr>
              <a:t>PAYSIM FRAUD DETECTION  •  RANDOM FOREST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64808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07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554480"/>
            <a:ext cx="2926080" cy="475488"/>
          </a:xfrm>
          <a:prstGeom prst="roundRect">
            <a:avLst>
              <a:gd name="adj" fmla="val 12000"/>
            </a:avLst>
          </a:prstGeom>
          <a:solidFill>
            <a:srgbClr val="1B2940"/>
          </a:solidFill>
          <a:ln>
            <a:solidFill>
              <a:srgbClr val="1B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600200"/>
            <a:ext cx="2706624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3D7E8"/>
                </a:solidFill>
                <a:latin typeface="Aptos"/>
              </a:rPr>
              <a:t>METRIKA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40" y="1554480"/>
            <a:ext cx="2057400" cy="475488"/>
          </a:xfrm>
          <a:prstGeom prst="roundRect">
            <a:avLst>
              <a:gd name="adj" fmla="val 12000"/>
            </a:avLst>
          </a:prstGeom>
          <a:solidFill>
            <a:srgbClr val="1B2940"/>
          </a:solidFill>
          <a:ln>
            <a:solidFill>
              <a:srgbClr val="1B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8768" y="1600200"/>
            <a:ext cx="1837943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3D7E8"/>
                </a:solidFill>
                <a:latin typeface="Aptos"/>
              </a:rPr>
              <a:t>PARALLEL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79592" y="1554480"/>
            <a:ext cx="2057400" cy="475488"/>
          </a:xfrm>
          <a:prstGeom prst="roundRect">
            <a:avLst>
              <a:gd name="adj" fmla="val 12000"/>
            </a:avLst>
          </a:prstGeom>
          <a:solidFill>
            <a:srgbClr val="1B2940"/>
          </a:solidFill>
          <a:ln>
            <a:solidFill>
              <a:srgbClr val="1B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1600200"/>
            <a:ext cx="1837943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3D7E8"/>
                </a:solidFill>
                <a:latin typeface="Aptos"/>
              </a:rPr>
              <a:t>REDUCE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54480"/>
            <a:ext cx="3063240" cy="475488"/>
          </a:xfrm>
          <a:prstGeom prst="roundRect">
            <a:avLst>
              <a:gd name="adj" fmla="val 12000"/>
            </a:avLst>
          </a:prstGeom>
          <a:solidFill>
            <a:srgbClr val="1B2940"/>
          </a:solidFill>
          <a:ln>
            <a:solidFill>
              <a:srgbClr val="1B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1600200"/>
            <a:ext cx="2843784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3D7E8"/>
                </a:solidFill>
                <a:latin typeface="Aptos"/>
              </a:rPr>
              <a:t>O‘ZGARISH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139696"/>
            <a:ext cx="2926080" cy="530352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2194560"/>
            <a:ext cx="2706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4F7FB"/>
                </a:solidFill>
                <a:latin typeface="Aptos"/>
              </a:rPr>
              <a:t>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2139696"/>
            <a:ext cx="2057400" cy="530352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8768" y="2194560"/>
            <a:ext cx="1837943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4F7FB"/>
                </a:solidFill>
                <a:latin typeface="Aptos"/>
              </a:rPr>
              <a:t>99.63%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79592" y="2139696"/>
            <a:ext cx="2057400" cy="530352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194560"/>
            <a:ext cx="1837943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5D6A4"/>
                </a:solidFill>
                <a:latin typeface="Aptos"/>
              </a:rPr>
              <a:t>99.96%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2139696"/>
            <a:ext cx="3063240" cy="530352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2" y="2194560"/>
            <a:ext cx="284378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6C9"/>
                </a:solidFill>
                <a:latin typeface="Aptos"/>
              </a:rPr>
              <a:t>+0.33 foiz punkt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2761488"/>
            <a:ext cx="2926080" cy="530352"/>
          </a:xfrm>
          <a:prstGeom prst="roundRect">
            <a:avLst>
              <a:gd name="adj" fmla="val 12000"/>
            </a:avLst>
          </a:prstGeom>
          <a:solidFill>
            <a:srgbClr val="10192A"/>
          </a:solidFill>
          <a:ln>
            <a:solidFill>
              <a:srgbClr val="10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2816352"/>
            <a:ext cx="2706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4F7FB"/>
                </a:solidFill>
                <a:latin typeface="Aptos"/>
              </a:rPr>
              <a:t>Precision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40" y="2761488"/>
            <a:ext cx="2057400" cy="530352"/>
          </a:xfrm>
          <a:prstGeom prst="roundRect">
            <a:avLst>
              <a:gd name="adj" fmla="val 12000"/>
            </a:avLst>
          </a:prstGeom>
          <a:solidFill>
            <a:srgbClr val="10192A"/>
          </a:solidFill>
          <a:ln>
            <a:solidFill>
              <a:srgbClr val="10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8768" y="2816352"/>
            <a:ext cx="1837943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4F7FB"/>
                </a:solidFill>
                <a:latin typeface="Aptos"/>
              </a:rPr>
              <a:t>25.16%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79592" y="2761488"/>
            <a:ext cx="2057400" cy="530352"/>
          </a:xfrm>
          <a:prstGeom prst="roundRect">
            <a:avLst>
              <a:gd name="adj" fmla="val 12000"/>
            </a:avLst>
          </a:prstGeom>
          <a:solidFill>
            <a:srgbClr val="10192A"/>
          </a:solidFill>
          <a:ln>
            <a:solidFill>
              <a:srgbClr val="10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2816352"/>
            <a:ext cx="1837943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5D6A4"/>
                </a:solidFill>
                <a:latin typeface="Aptos"/>
              </a:rPr>
              <a:t>96.28%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2761488"/>
            <a:ext cx="3063240" cy="530352"/>
          </a:xfrm>
          <a:prstGeom prst="roundRect">
            <a:avLst>
              <a:gd name="adj" fmla="val 12000"/>
            </a:avLst>
          </a:prstGeom>
          <a:solidFill>
            <a:srgbClr val="10192A"/>
          </a:solidFill>
          <a:ln>
            <a:solidFill>
              <a:srgbClr val="10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19872" y="2816352"/>
            <a:ext cx="284378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6C9"/>
                </a:solidFill>
                <a:latin typeface="Aptos"/>
              </a:rPr>
              <a:t>+71.12 foiz punkt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3383280"/>
            <a:ext cx="2926080" cy="530352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3438144"/>
            <a:ext cx="2706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4F7FB"/>
                </a:solidFill>
                <a:latin typeface="Aptos"/>
              </a:rPr>
              <a:t>Recall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49040" y="3383280"/>
            <a:ext cx="2057400" cy="530352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58768" y="3438144"/>
            <a:ext cx="1837943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4F7FB"/>
                </a:solidFill>
                <a:latin typeface="Aptos"/>
              </a:rPr>
              <a:t>96.29%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79592" y="3383280"/>
            <a:ext cx="2057400" cy="530352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89320" y="3438144"/>
            <a:ext cx="1837943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B454"/>
                </a:solidFill>
                <a:latin typeface="Aptos"/>
              </a:rPr>
              <a:t>75.72%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0144" y="3383280"/>
            <a:ext cx="3063240" cy="530352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19872" y="3438144"/>
            <a:ext cx="284378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B454"/>
                </a:solidFill>
                <a:latin typeface="Aptos"/>
              </a:rPr>
              <a:t>−20.57 foiz punkt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8" y="4005072"/>
            <a:ext cx="2926080" cy="530352"/>
          </a:xfrm>
          <a:prstGeom prst="roundRect">
            <a:avLst>
              <a:gd name="adj" fmla="val 12000"/>
            </a:avLst>
          </a:prstGeom>
          <a:solidFill>
            <a:srgbClr val="10192A"/>
          </a:solidFill>
          <a:ln>
            <a:solidFill>
              <a:srgbClr val="10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" y="4059935"/>
            <a:ext cx="2706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4F7FB"/>
                </a:solidFill>
                <a:latin typeface="Aptos"/>
              </a:rPr>
              <a:t>F1-score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749040" y="4005072"/>
            <a:ext cx="2057400" cy="530352"/>
          </a:xfrm>
          <a:prstGeom prst="roundRect">
            <a:avLst>
              <a:gd name="adj" fmla="val 12000"/>
            </a:avLst>
          </a:prstGeom>
          <a:solidFill>
            <a:srgbClr val="10192A"/>
          </a:solidFill>
          <a:ln>
            <a:solidFill>
              <a:srgbClr val="10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58768" y="4059935"/>
            <a:ext cx="1837943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4F7FB"/>
                </a:solidFill>
                <a:latin typeface="Aptos"/>
              </a:rPr>
              <a:t>39.90%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79592" y="4005072"/>
            <a:ext cx="2057400" cy="530352"/>
          </a:xfrm>
          <a:prstGeom prst="roundRect">
            <a:avLst>
              <a:gd name="adj" fmla="val 12000"/>
            </a:avLst>
          </a:prstGeom>
          <a:solidFill>
            <a:srgbClr val="10192A"/>
          </a:solidFill>
          <a:ln>
            <a:solidFill>
              <a:srgbClr val="10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9320" y="4059935"/>
            <a:ext cx="1837943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5D6A4"/>
                </a:solidFill>
                <a:latin typeface="Aptos"/>
              </a:rPr>
              <a:t>84.77%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10144" y="4005072"/>
            <a:ext cx="3063240" cy="530352"/>
          </a:xfrm>
          <a:prstGeom prst="roundRect">
            <a:avLst>
              <a:gd name="adj" fmla="val 12000"/>
            </a:avLst>
          </a:prstGeom>
          <a:solidFill>
            <a:srgbClr val="10192A"/>
          </a:solidFill>
          <a:ln>
            <a:solidFill>
              <a:srgbClr val="101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19872" y="4059935"/>
            <a:ext cx="284378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6C9"/>
                </a:solidFill>
                <a:latin typeface="Aptos"/>
              </a:rPr>
              <a:t>+44.87 foiz punkt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9808" y="4626864"/>
            <a:ext cx="2926080" cy="530352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9536" y="4681728"/>
            <a:ext cx="270662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4F7FB"/>
                </a:solidFill>
                <a:latin typeface="Aptos"/>
              </a:rPr>
              <a:t>ROC-AUC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49040" y="4626864"/>
            <a:ext cx="2057400" cy="530352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58768" y="4681728"/>
            <a:ext cx="1837943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4F7FB"/>
                </a:solidFill>
                <a:latin typeface="Aptos"/>
              </a:rPr>
              <a:t>99.93%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879592" y="4626864"/>
            <a:ext cx="2057400" cy="530352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9320" y="4681728"/>
            <a:ext cx="1837943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5D6A4"/>
                </a:solidFill>
                <a:latin typeface="Aptos"/>
              </a:rPr>
              <a:t>99.75%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10144" y="4626864"/>
            <a:ext cx="3063240" cy="530352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19872" y="4681728"/>
            <a:ext cx="284378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6C9"/>
                </a:solidFill>
                <a:latin typeface="Aptos"/>
              </a:rPr>
              <a:t>−0.18 foiz punkt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384" y="5413248"/>
            <a:ext cx="1088136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B454"/>
                </a:solidFill>
                <a:latin typeface="Aptos"/>
              </a:rPr>
              <a:t>Xatolar almashinuvi: FP 4,705 → 48 (−99.0%); FN 61 → 399. Bitta umumiy “aniqlik” soni biznes uchun qaysi model afzal ekanini o‘zi hal qilmaydi.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89611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43D7E8"/>
                </a:solidFill>
                <a:latin typeface="Aptos"/>
              </a:rPr>
              <a:t>TAHLIL VA CHEKLOVLAR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4F7FB"/>
                </a:solidFill>
                <a:latin typeface="Aptos"/>
              </a:rPr>
              <a:t>Natijaning amaliy ma’nosi: xatolar narxi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9B6C9"/>
                </a:solidFill>
                <a:latin typeface="Aptos"/>
              </a:rPr>
              <a:t>Fraudni o‘tkazib yuborish va qonuniy tranzaksiyani to‘xtatishning xarajati bir xil emas.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19088"/>
            <a:ext cx="11109960" cy="10972"/>
          </a:xfrm>
          <a:prstGeom prst="rect">
            <a:avLst/>
          </a:prstGeom>
          <a:solidFill>
            <a:srgbClr val="293750"/>
          </a:solidFill>
          <a:ln>
            <a:solidFill>
              <a:srgbClr val="29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73952"/>
            <a:ext cx="99669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9B6C9"/>
                </a:solidFill>
                <a:latin typeface="Aptos"/>
              </a:rPr>
              <a:t>PAYSIM FRAUD DETECTION  •  RANDOM FOREST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64808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08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276088" cy="1508760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55648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454"/>
                </a:solidFill>
                <a:latin typeface="Aptos"/>
              </a:rPr>
              <a:t>FALSE POSITIVE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39696"/>
            <a:ext cx="21031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4F7FB"/>
                </a:solidFill>
                <a:latin typeface="Aptos"/>
              </a:rPr>
              <a:t>4,705 → 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1901952"/>
            <a:ext cx="242316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6C9"/>
                </a:solidFill>
                <a:latin typeface="Aptos"/>
              </a:rPr>
              <a:t>Legitim operatsiyani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6C9"/>
                </a:solidFill>
                <a:latin typeface="Aptos"/>
              </a:rPr>
              <a:t>shubhali deb to‘xtatish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572768"/>
            <a:ext cx="5276088" cy="1508760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55648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7185"/>
                </a:solidFill>
                <a:latin typeface="Aptos"/>
              </a:rPr>
              <a:t>FALSE NEGATIVE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139696"/>
            <a:ext cx="21031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4F7FB"/>
                </a:solidFill>
                <a:latin typeface="Aptos"/>
              </a:rPr>
              <a:t>61 → 399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1901952"/>
            <a:ext cx="2542032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6C9"/>
                </a:solidFill>
                <a:latin typeface="Aptos"/>
              </a:rPr>
              <a:t>Fraud tranzaksiyani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9B6C9"/>
                </a:solidFill>
                <a:latin typeface="Aptos"/>
              </a:rPr>
              <a:t>oddiy deb o‘tkazib yuborish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364992"/>
            <a:ext cx="5276088" cy="1481328"/>
          </a:xfrm>
          <a:prstGeom prst="roundRect">
            <a:avLst>
              <a:gd name="adj" fmla="val 12000"/>
            </a:avLst>
          </a:prstGeom>
          <a:solidFill>
            <a:srgbClr val="1B2940"/>
          </a:solidFill>
          <a:ln>
            <a:solidFill>
              <a:srgbClr val="1B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557016"/>
            <a:ext cx="4681728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5D6A4"/>
                </a:solidFill>
                <a:latin typeface="Aptos"/>
              </a:rPr>
              <a:t>REDUCE AFZALLIGI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941063"/>
            <a:ext cx="461772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Yuqori precision va F1; kamroq noto‘g‘ri ogohlantirish.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364992"/>
            <a:ext cx="5276088" cy="1481328"/>
          </a:xfrm>
          <a:prstGeom prst="roundRect">
            <a:avLst>
              <a:gd name="adj" fmla="val 12000"/>
            </a:avLst>
          </a:prstGeom>
          <a:solidFill>
            <a:srgbClr val="1B2940"/>
          </a:solidFill>
          <a:ln>
            <a:solidFill>
              <a:srgbClr val="1B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557016"/>
            <a:ext cx="46177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454"/>
                </a:solidFill>
                <a:latin typeface="Aptos"/>
              </a:rPr>
              <a:t>REDUCE XAVFI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941063"/>
            <a:ext cx="461772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Aptos"/>
              </a:rPr>
              <a:t>Recall pastroq: fraudlarning chorakka yaqini topilmay qoladi.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212080"/>
            <a:ext cx="10716768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9B6C9"/>
                </a:solidFill>
                <a:latin typeface="Aptos"/>
              </a:rPr>
              <a:t>Accuracy ≈99.9% bo‘lishi ko‘p normal tranzaksiyalar ulushi bilan izohlanadi. Threshold, real fraud qiymati va mijozga ta’sir alohida baholanmasdan production tanlovi qilinmasin.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89611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43D7E8"/>
                </a:solidFill>
                <a:latin typeface="Aptos"/>
              </a:rPr>
              <a:t>YAKUNIY XULOSA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4F7FB"/>
                </a:solidFill>
                <a:latin typeface="Aptos"/>
              </a:rPr>
              <a:t>Xulosa va keyingi to‘g‘ri qadam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9B6C9"/>
                </a:solidFill>
                <a:latin typeface="Aptos"/>
              </a:rPr>
              <a:t>Tezlik yutug‘i katta, ammo model tanlovi fraudni topish va xato ogohlantirish narxiga bog‘liq.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19088"/>
            <a:ext cx="11109960" cy="10972"/>
          </a:xfrm>
          <a:prstGeom prst="rect">
            <a:avLst/>
          </a:prstGeom>
          <a:solidFill>
            <a:srgbClr val="293750"/>
          </a:solidFill>
          <a:ln>
            <a:solidFill>
              <a:srgbClr val="29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73952"/>
            <a:ext cx="99669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A9B6C9"/>
                </a:solidFill>
                <a:latin typeface="Aptos"/>
              </a:rPr>
              <a:t>PAYSIM FRAUD DETECTION  •  RANDOM FOREST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64808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09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54480"/>
            <a:ext cx="3401568" cy="1261872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54480"/>
            <a:ext cx="50292" cy="1261872"/>
          </a:xfrm>
          <a:prstGeom prst="rect">
            <a:avLst/>
          </a:prstGeom>
          <a:solidFill>
            <a:srgbClr val="65D6A4"/>
          </a:solidFill>
          <a:ln>
            <a:solidFill>
              <a:srgbClr val="65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664207"/>
            <a:ext cx="309067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ENG TEZ O‘LCHANGAN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1947672"/>
            <a:ext cx="309067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4F7FB"/>
                </a:solidFill>
                <a:latin typeface="Aptos"/>
              </a:rPr>
              <a:t>Reduce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478024"/>
            <a:ext cx="309067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9B6C9"/>
                </a:solidFill>
                <a:latin typeface="Aptos"/>
              </a:rPr>
              <a:t>12.18 s fit  •  15.6× speedup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554480"/>
            <a:ext cx="3401568" cy="1261872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554480"/>
            <a:ext cx="50292" cy="1261872"/>
          </a:xfrm>
          <a:prstGeom prst="rect">
            <a:avLst/>
          </a:prstGeom>
          <a:solidFill>
            <a:srgbClr val="43D7E8"/>
          </a:solidFill>
          <a:ln>
            <a:solidFill>
              <a:srgbClr val="43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664207"/>
            <a:ext cx="309067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ENG YUQORI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947672"/>
            <a:ext cx="309067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4F7FB"/>
                </a:solidFill>
                <a:latin typeface="Aptos"/>
              </a:rPr>
              <a:t>Parallel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478024"/>
            <a:ext cx="309067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9B6C9"/>
                </a:solidFill>
                <a:latin typeface="Aptos"/>
              </a:rPr>
              <a:t>96.29%  •  FN = 61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1554480"/>
            <a:ext cx="3401568" cy="1261872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1554480"/>
            <a:ext cx="50292" cy="1261872"/>
          </a:xfrm>
          <a:prstGeom prst="rect">
            <a:avLst/>
          </a:prstGeom>
          <a:solidFill>
            <a:srgbClr val="65D6A4"/>
          </a:solidFill>
          <a:ln>
            <a:solidFill>
              <a:srgbClr val="65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664207"/>
            <a:ext cx="309067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A9B6C9"/>
                </a:solidFill>
                <a:latin typeface="Aptos"/>
              </a:rPr>
              <a:t>ENG YUQORI 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947672"/>
            <a:ext cx="309067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4F7FB"/>
                </a:solidFill>
                <a:latin typeface="Aptos"/>
              </a:rPr>
              <a:t>Reduce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78024"/>
            <a:ext cx="309067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9B6C9"/>
                </a:solidFill>
                <a:latin typeface="Aptos"/>
              </a:rPr>
              <a:t>84.77%  •  FP = 48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090672"/>
            <a:ext cx="6711696" cy="1901952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>
            <a:solidFill>
              <a:srgbClr val="14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282696"/>
            <a:ext cx="6144768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B454"/>
                </a:solidFill>
                <a:latin typeface="Aptos"/>
              </a:rPr>
              <a:t>KETMA-KET BASELINE — O‘LCHOV YO‘Q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703320"/>
            <a:ext cx="6126480" cy="9875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4F7FB"/>
                </a:solidFill>
                <a:latin typeface="Aptos"/>
              </a:rPr>
              <a:t>Loyiha tarixidagi train.py da n_jobs=1 rejimi bor, biroq hozirgi skrinshotlar bu running vaqtini yoki metrikalarini bermaydi. Ketma-ket natijani aniq taqqoslash uchun qayta o‘lchash kerak.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08392" y="3090672"/>
            <a:ext cx="3758184" cy="1901952"/>
          </a:xfrm>
          <a:prstGeom prst="roundRect">
            <a:avLst>
              <a:gd name="adj" fmla="val 12000"/>
            </a:avLst>
          </a:prstGeom>
          <a:solidFill>
            <a:srgbClr val="1B2940"/>
          </a:solidFill>
          <a:ln>
            <a:solidFill>
              <a:srgbClr val="1B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3282696"/>
            <a:ext cx="3273552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3D7E8"/>
                </a:solidFill>
                <a:latin typeface="Aptos"/>
              </a:rPr>
              <a:t>TAQQOSLASHNI YOPISH UCHUN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675887"/>
            <a:ext cx="3218688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4F7FB"/>
                </a:solidFill>
                <a:latin typeface="Aptos"/>
              </a:rPr>
              <a:t>Bir xil split/seed/feature va 100 daraxt bilan n_jobs=1 ni o‘lchang; fit vaqtini alohida, barcha metrikalarni bitta testda yozib oling.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5330952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5D6A4"/>
                </a:solidFill>
                <a:latin typeface="Aptos"/>
              </a:rPr>
              <a:t>Tanlov: recall muhim bo‘lsa — parallel; precision/F1 va tezlik muhim bo‘lsa — Reduce’ni threshold sozlab tekshirish. Haqiqiy tranzaksiyalar bilan mustaqil validatsiya zarur.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